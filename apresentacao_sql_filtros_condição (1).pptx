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7" r:id="rId2"/>
    <p:sldId id="256" r:id="rId3"/>
    <p:sldId id="262" r:id="rId4"/>
    <p:sldId id="268" r:id="rId5"/>
    <p:sldId id="263" r:id="rId6"/>
    <p:sldId id="269" r:id="rId7"/>
    <p:sldId id="264" r:id="rId8"/>
    <p:sldId id="270" r:id="rId9"/>
    <p:sldId id="271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3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2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4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4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6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0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0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0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4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8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34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4179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88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22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40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203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6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3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" TargetMode="External"/><Relationship Id="rId2" Type="http://schemas.openxmlformats.org/officeDocument/2006/relationships/hyperlink" Target="https://dev.mysql.com/doc/" TargetMode="Externa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222" y="656087"/>
            <a:ext cx="5349922" cy="1513906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00252" y="2320118"/>
            <a:ext cx="8761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rial Rounded MT Bold" panose="020F0704030504030204" pitchFamily="34" charset="0"/>
              </a:rPr>
              <a:t>Curso Subsequente em Análise e Desenvolvimento de Sistemas </a:t>
            </a:r>
          </a:p>
          <a:p>
            <a:pPr algn="ctr"/>
            <a:r>
              <a:rPr lang="pt-BR" dirty="0">
                <a:latin typeface="Arial Rounded MT Bold" panose="020F0704030504030204" pitchFamily="34" charset="0"/>
              </a:rPr>
              <a:t> Banco de Dados II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 flipH="1">
            <a:off x="1664665" y="3393573"/>
            <a:ext cx="5927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rgbClr val="FF0000"/>
                </a:solidFill>
                <a:latin typeface="Arial Rounded MT Bold" panose="020F0704030504030204" pitchFamily="34" charset="0"/>
              </a:rPr>
              <a:t>07 </a:t>
            </a:r>
            <a:r>
              <a:rPr lang="pt-BR" sz="36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 Condições de Datas </a:t>
            </a:r>
            <a:endParaRPr lang="pt-BR" sz="36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1664665" y="4837481"/>
            <a:ext cx="5814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Arial Rounded MT Bold" panose="020F0704030504030204" pitchFamily="34" charset="0"/>
              </a:rPr>
              <a:t>Alunos: Isabela Santos e Felipe Souza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9608038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61" y="1198870"/>
            <a:ext cx="8229600" cy="1143000"/>
          </a:xfrm>
        </p:spPr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Filtro</a:t>
            </a:r>
            <a:r>
              <a:rPr b="1" dirty="0">
                <a:solidFill>
                  <a:srgbClr val="FF0000"/>
                </a:solidFill>
              </a:rPr>
              <a:t> com </a:t>
            </a:r>
            <a:r>
              <a:rPr b="1" dirty="0" err="1">
                <a:solidFill>
                  <a:srgbClr val="FF0000"/>
                </a:solidFill>
              </a:rPr>
              <a:t>Condição</a:t>
            </a:r>
            <a:r>
              <a:rPr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055374"/>
            <a:ext cx="8229600" cy="4525963"/>
          </a:xfrm>
        </p:spPr>
        <p:txBody>
          <a:bodyPr/>
          <a:lstStyle/>
          <a:p>
            <a:r>
              <a:rPr dirty="0" err="1"/>
              <a:t>Filtros</a:t>
            </a:r>
            <a:r>
              <a:rPr dirty="0"/>
              <a:t> no SQL </a:t>
            </a:r>
            <a:r>
              <a:rPr dirty="0" err="1"/>
              <a:t>servem</a:t>
            </a:r>
            <a:r>
              <a:rPr dirty="0"/>
              <a:t> para </a:t>
            </a:r>
            <a:r>
              <a:rPr dirty="0" err="1"/>
              <a:t>buscar</a:t>
            </a:r>
            <a:r>
              <a:rPr dirty="0"/>
              <a:t> dados </a:t>
            </a:r>
            <a:r>
              <a:rPr dirty="0" err="1"/>
              <a:t>específicos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</a:t>
            </a:r>
            <a:r>
              <a:rPr dirty="0" err="1"/>
              <a:t>condições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522" y="20346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DAYNAME() Mostra o nome do dia da </a:t>
            </a:r>
            <a:r>
              <a:rPr lang="pt-BR" sz="3600" b="1" dirty="0" err="1">
                <a:solidFill>
                  <a:srgbClr val="FF0000"/>
                </a:solidFill>
              </a:rPr>
              <a:t>seMana</a:t>
            </a:r>
            <a:r>
              <a:rPr lang="pt-BR" sz="3600" b="1" dirty="0">
                <a:solidFill>
                  <a:srgbClr val="FF0000"/>
                </a:solidFill>
              </a:rPr>
              <a:t>.</a:t>
            </a:r>
            <a:br>
              <a:rPr lang="pt-BR" sz="3600" b="1" dirty="0">
                <a:solidFill>
                  <a:srgbClr val="FF0000"/>
                </a:solidFill>
              </a:rPr>
            </a:br>
            <a:br>
              <a:rPr lang="pt-BR" sz="3600" b="1" dirty="0">
                <a:solidFill>
                  <a:srgbClr val="FF0000"/>
                </a:solidFill>
              </a:rPr>
            </a:br>
            <a:br>
              <a:rPr lang="pt-BR" sz="3600" b="1" dirty="0">
                <a:solidFill>
                  <a:srgbClr val="FF0000"/>
                </a:solidFill>
              </a:rPr>
            </a:br>
            <a:r>
              <a:rPr lang="pt-BR" sz="3600" dirty="0"/>
              <a:t>Relatório – Vendas nas sextas-feiras</a:t>
            </a:r>
            <a:endParaRPr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0830D4-B48D-A03E-9D42-F64BD9016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671" y="1826342"/>
            <a:ext cx="8229600" cy="4525963"/>
          </a:xfrm>
        </p:spPr>
        <p:txBody>
          <a:bodyPr/>
          <a:lstStyle/>
          <a:p>
            <a:r>
              <a:rPr lang="pt-BR" dirty="0"/>
              <a:t>SELECT </a:t>
            </a:r>
            <a:r>
              <a:rPr lang="pt-BR" dirty="0" err="1"/>
              <a:t>data_venda</a:t>
            </a:r>
            <a:r>
              <a:rPr lang="pt-BR" dirty="0"/>
              <a:t>, DAYNAME(</a:t>
            </a:r>
            <a:r>
              <a:rPr lang="pt-BR" dirty="0" err="1"/>
              <a:t>data_venda</a:t>
            </a:r>
            <a:r>
              <a:rPr lang="pt-BR" dirty="0"/>
              <a:t>) AS </a:t>
            </a:r>
            <a:r>
              <a:rPr lang="pt-BR" dirty="0" err="1"/>
              <a:t>dia_semana</a:t>
            </a:r>
            <a:endParaRPr lang="pt-BR" dirty="0"/>
          </a:p>
          <a:p>
            <a:r>
              <a:rPr lang="pt-BR" dirty="0"/>
              <a:t>FROM </a:t>
            </a:r>
            <a:r>
              <a:rPr lang="pt-BR" dirty="0" err="1"/>
              <a:t>notas_fiscais</a:t>
            </a:r>
            <a:endParaRPr lang="pt-BR" dirty="0"/>
          </a:p>
          <a:p>
            <a:r>
              <a:rPr lang="pt-BR" dirty="0"/>
              <a:t>WHERE DAYNAME(</a:t>
            </a:r>
            <a:r>
              <a:rPr lang="pt-BR" dirty="0" err="1"/>
              <a:t>data_venda</a:t>
            </a:r>
            <a:r>
              <a:rPr lang="pt-BR" dirty="0"/>
              <a:t>) = 'Friday';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79329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710" y="211506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MONTHNAME() Mostra o nome do mês.</a:t>
            </a:r>
            <a:br>
              <a:rPr lang="pt-BR" dirty="0"/>
            </a:br>
            <a:br>
              <a:rPr lang="pt-BR" dirty="0"/>
            </a:br>
            <a:r>
              <a:rPr dirty="0" err="1"/>
              <a:t>Relatório</a:t>
            </a:r>
            <a:r>
              <a:rPr dirty="0"/>
              <a:t> – </a:t>
            </a:r>
            <a:r>
              <a:rPr dirty="0" err="1"/>
              <a:t>Anivers</a:t>
            </a:r>
            <a:r>
              <a:rPr lang="pt-BR" dirty="0"/>
              <a:t>a</a:t>
            </a:r>
            <a:r>
              <a:rPr dirty="0" err="1"/>
              <a:t>riantes</a:t>
            </a:r>
            <a:r>
              <a:rPr dirty="0"/>
              <a:t> de </a:t>
            </a:r>
            <a:r>
              <a:rPr dirty="0" err="1"/>
              <a:t>Março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E8D7B8-36BD-DA2B-9EFF-688A3E064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007" y="2332037"/>
            <a:ext cx="8229600" cy="4525963"/>
          </a:xfrm>
        </p:spPr>
        <p:txBody>
          <a:bodyPr/>
          <a:lstStyle/>
          <a:p>
            <a:r>
              <a:rPr lang="pt-BR" dirty="0"/>
              <a:t>SELECT </a:t>
            </a:r>
            <a:r>
              <a:rPr lang="pt-BR" dirty="0" err="1"/>
              <a:t>data_de_nascimento</a:t>
            </a:r>
            <a:r>
              <a:rPr lang="pt-BR" dirty="0"/>
              <a:t>, MONTHNAME(</a:t>
            </a:r>
            <a:r>
              <a:rPr lang="pt-BR" dirty="0" err="1"/>
              <a:t>data_de_nascimento</a:t>
            </a:r>
            <a:r>
              <a:rPr lang="pt-BR" dirty="0"/>
              <a:t>) AS </a:t>
            </a:r>
            <a:r>
              <a:rPr lang="pt-BR" dirty="0" err="1"/>
              <a:t>mes</a:t>
            </a:r>
            <a:endParaRPr lang="pt-BR" dirty="0"/>
          </a:p>
          <a:p>
            <a:r>
              <a:rPr lang="pt-BR" dirty="0"/>
              <a:t>FROM </a:t>
            </a:r>
            <a:r>
              <a:rPr lang="pt-BR" dirty="0" err="1"/>
              <a:t>tabela_de_clientes</a:t>
            </a:r>
            <a:endParaRPr lang="pt-BR" dirty="0"/>
          </a:p>
          <a:p>
            <a:r>
              <a:rPr lang="pt-BR" dirty="0"/>
              <a:t>WHERE MONTH(</a:t>
            </a:r>
            <a:r>
              <a:rPr lang="pt-BR" dirty="0" err="1"/>
              <a:t>data_de_nascimento</a:t>
            </a:r>
            <a:r>
              <a:rPr lang="pt-BR" dirty="0"/>
              <a:t>) = 3;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074626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8867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sz="3600" b="1" dirty="0">
                <a:solidFill>
                  <a:srgbClr val="FF0000"/>
                </a:solidFill>
              </a:rPr>
              <a:t>YEAR() – Mostra apenas o ano de uma data.</a:t>
            </a:r>
            <a:br>
              <a:rPr lang="pt-BR" sz="3600" b="1" dirty="0">
                <a:solidFill>
                  <a:srgbClr val="FF0000"/>
                </a:solidFill>
              </a:rPr>
            </a:br>
            <a:br>
              <a:rPr lang="pt-BR" sz="3600" b="1" dirty="0">
                <a:solidFill>
                  <a:srgbClr val="FF0000"/>
                </a:solidFill>
              </a:rPr>
            </a:br>
            <a:br>
              <a:rPr lang="pt-BR" sz="3600" b="1" dirty="0">
                <a:solidFill>
                  <a:srgbClr val="FF0000"/>
                </a:solidFill>
              </a:rPr>
            </a:br>
            <a:r>
              <a:rPr lang="pt-BR" sz="3600" dirty="0"/>
              <a:t>Quantos anos de casa tem os vendedores da empresa.</a:t>
            </a:r>
            <a:br>
              <a:rPr lang="pt-BR" sz="3600" dirty="0"/>
            </a:br>
            <a:br>
              <a:rPr lang="pt-BR" sz="3600" b="1" dirty="0">
                <a:solidFill>
                  <a:srgbClr val="FF0000"/>
                </a:solidFill>
              </a:rPr>
            </a:b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7F75C1-D799-FC98-BD40-6E01CDBA1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13" y="1963994"/>
            <a:ext cx="8229600" cy="4525963"/>
          </a:xfrm>
        </p:spPr>
        <p:txBody>
          <a:bodyPr/>
          <a:lstStyle/>
          <a:p>
            <a:r>
              <a:rPr lang="pt-BR" dirty="0"/>
              <a:t>SELECT nome, </a:t>
            </a:r>
            <a:r>
              <a:rPr lang="pt-BR" dirty="0" err="1"/>
              <a:t>data_admissao</a:t>
            </a:r>
            <a:r>
              <a:rPr lang="pt-BR" dirty="0"/>
              <a:t>,</a:t>
            </a:r>
            <a:br>
              <a:rPr lang="pt-BR" dirty="0"/>
            </a:br>
            <a:r>
              <a:rPr lang="pt-BR" dirty="0"/>
              <a:t>YEAR(CURDATE()) - YEAR(</a:t>
            </a:r>
            <a:r>
              <a:rPr lang="pt-BR" dirty="0" err="1"/>
              <a:t>data_admissao</a:t>
            </a:r>
            <a:r>
              <a:rPr lang="pt-BR" dirty="0"/>
              <a:t>) AS </a:t>
            </a:r>
            <a:r>
              <a:rPr lang="pt-BR" dirty="0" err="1"/>
              <a:t>tempo_de_casa</a:t>
            </a:r>
            <a:br>
              <a:rPr lang="pt-BR" dirty="0"/>
            </a:br>
            <a:r>
              <a:rPr lang="pt-BR" dirty="0"/>
              <a:t>FROM </a:t>
            </a:r>
            <a:r>
              <a:rPr lang="pt-BR" dirty="0" err="1"/>
              <a:t>tabela_de_vendedores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6270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97BFEB-B4FF-7A96-AC1F-57DE986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81" y="-2458"/>
            <a:ext cx="8229600" cy="4525963"/>
          </a:xfrm>
        </p:spPr>
        <p:txBody>
          <a:bodyPr>
            <a:normAutofit fontScale="25000" lnSpcReduction="20000"/>
          </a:bodyPr>
          <a:lstStyle/>
          <a:p>
            <a:r>
              <a:rPr lang="pt-BR" sz="7400" b="1" dirty="0"/>
              <a:t>Referências</a:t>
            </a:r>
          </a:p>
          <a:p>
            <a:r>
              <a:rPr lang="pt-BR" sz="7400" dirty="0"/>
              <a:t>Material utilizado para estudo e desenvolvimento das consultas SQL apresentadas no trabalho.</a:t>
            </a:r>
          </a:p>
          <a:p>
            <a:endParaRPr lang="pt-BR" sz="7400" dirty="0"/>
          </a:p>
          <a:p>
            <a:r>
              <a:rPr lang="pt-BR" sz="7400" b="1" dirty="0"/>
              <a:t>MySQL</a:t>
            </a:r>
            <a:br>
              <a:rPr lang="pt-BR" sz="7400" dirty="0"/>
            </a:br>
            <a:r>
              <a:rPr lang="pt-BR" sz="7400" dirty="0"/>
              <a:t>Documentação oficial do MySQL.</a:t>
            </a:r>
            <a:br>
              <a:rPr lang="pt-BR" sz="7400" dirty="0"/>
            </a:br>
            <a:r>
              <a:rPr lang="pt-BR" sz="7400" dirty="0"/>
              <a:t>Disponível em: </a:t>
            </a:r>
            <a:r>
              <a:rPr lang="pt-BR" sz="7400" dirty="0">
                <a:hlinkClick r:id="rId2"/>
              </a:rPr>
              <a:t>https://dev.mysql.com/doc/</a:t>
            </a:r>
            <a:br>
              <a:rPr lang="pt-BR" sz="7400" dirty="0"/>
            </a:br>
            <a:r>
              <a:rPr lang="pt-BR" sz="7400" dirty="0"/>
              <a:t>Acesso em: março de 2026.</a:t>
            </a:r>
          </a:p>
          <a:p>
            <a:endParaRPr lang="pt-BR" sz="7400" dirty="0"/>
          </a:p>
          <a:p>
            <a:r>
              <a:rPr lang="pt-BR" sz="7400" b="1" dirty="0"/>
              <a:t>Sistemas de Banco de Dados</a:t>
            </a:r>
            <a:br>
              <a:rPr lang="pt-BR" sz="7400" dirty="0"/>
            </a:br>
            <a:r>
              <a:rPr lang="pt-BR" sz="7400" dirty="0"/>
              <a:t>ELMASRI, Ramez; NAVATHE, </a:t>
            </a:r>
            <a:r>
              <a:rPr lang="pt-BR" sz="7400" dirty="0" err="1"/>
              <a:t>Shamkant</a:t>
            </a:r>
            <a:r>
              <a:rPr lang="pt-BR" sz="7400" dirty="0"/>
              <a:t>.</a:t>
            </a:r>
            <a:br>
              <a:rPr lang="pt-BR" sz="7400" dirty="0"/>
            </a:br>
            <a:r>
              <a:rPr lang="pt-BR" sz="7400" i="1" dirty="0"/>
              <a:t>Sistemas de Banco de Dados.</a:t>
            </a:r>
            <a:br>
              <a:rPr lang="pt-BR" sz="7400" dirty="0"/>
            </a:br>
            <a:r>
              <a:rPr lang="pt-BR" sz="7400" dirty="0"/>
              <a:t>Pearson </a:t>
            </a:r>
            <a:r>
              <a:rPr lang="pt-BR" sz="7400" dirty="0" err="1"/>
              <a:t>Education</a:t>
            </a:r>
            <a:r>
              <a:rPr lang="pt-BR" sz="7400" dirty="0"/>
              <a:t>.</a:t>
            </a:r>
          </a:p>
          <a:p>
            <a:endParaRPr lang="pt-BR" sz="7400" dirty="0"/>
          </a:p>
          <a:p>
            <a:r>
              <a:rPr lang="pt-BR" sz="7400" b="1" dirty="0"/>
              <a:t>W3Schools</a:t>
            </a:r>
            <a:br>
              <a:rPr lang="pt-BR" sz="7400" dirty="0"/>
            </a:br>
            <a:r>
              <a:rPr lang="pt-BR" sz="7400" dirty="0"/>
              <a:t>Tutoriais de SQL utilizados para consulta das funções DAYNAME(), MONTHNAME() e YEAR().</a:t>
            </a:r>
            <a:br>
              <a:rPr lang="pt-BR" sz="7400" dirty="0"/>
            </a:br>
            <a:r>
              <a:rPr lang="pt-BR" sz="7400" dirty="0"/>
              <a:t>Disponível em: </a:t>
            </a:r>
            <a:r>
              <a:rPr lang="pt-BR" sz="7400" dirty="0">
                <a:hlinkClick r:id="rId3"/>
              </a:rPr>
              <a:t>https://www.w3schools.com/sql/</a:t>
            </a:r>
            <a:br>
              <a:rPr lang="pt-BR" sz="7400" dirty="0"/>
            </a:br>
            <a:r>
              <a:rPr lang="pt-BR" sz="7400" dirty="0"/>
              <a:t>Acesso em: março de 2026.</a:t>
            </a:r>
          </a:p>
          <a:p>
            <a:r>
              <a:rPr lang="pt-BR" sz="7400" dirty="0"/>
              <a:t>Material das aulas e exercícios da disciplina de </a:t>
            </a:r>
            <a:r>
              <a:rPr lang="pt-BR" sz="7400" b="1" dirty="0"/>
              <a:t>Banco de Dados</a:t>
            </a:r>
            <a:r>
              <a:rPr lang="pt-BR" sz="7400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869580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35CAD3-68FB-070F-B9D1-501B0BF9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07" y="1268361"/>
            <a:ext cx="6591985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7200" dirty="0">
                <a:solidFill>
                  <a:srgbClr val="FF0000"/>
                </a:solidFill>
              </a:rPr>
              <a:t>APLAUSOS</a:t>
            </a:r>
          </a:p>
          <a:p>
            <a:pPr marL="0" indent="0" algn="ctr">
              <a:buNone/>
            </a:pPr>
            <a:r>
              <a:rPr lang="pt-BR" sz="6000" dirty="0">
                <a:solidFill>
                  <a:srgbClr val="FF0000"/>
                </a:solidFill>
              </a:rPr>
              <a:t> POR FAVOR!</a:t>
            </a:r>
          </a:p>
        </p:txBody>
      </p:sp>
    </p:spTree>
    <p:extLst>
      <p:ext uri="{BB962C8B-B14F-4D97-AF65-F5344CB8AC3E}">
        <p14:creationId xmlns:p14="http://schemas.microsoft.com/office/powerpoint/2010/main" val="90182664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Gotícula">
  <a:themeElements>
    <a:clrScheme name="Gotícu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ícu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ícu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TM04033925[[fn=Gotícula]]</Template>
  <TotalTime>2898</TotalTime>
  <Words>322</Words>
  <Application>Microsoft Office PowerPoint</Application>
  <PresentationFormat>Apresentação na tela (4:3)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Arial Rounded MT Bold</vt:lpstr>
      <vt:lpstr>Tw Cen MT</vt:lpstr>
      <vt:lpstr>Gotícula</vt:lpstr>
      <vt:lpstr>Apresentação do PowerPoint</vt:lpstr>
      <vt:lpstr>Filtro com Condição </vt:lpstr>
      <vt:lpstr>DAYNAME() Mostra o nome do dia da seMana.   Relatório – Vendas nas sextas-feiras</vt:lpstr>
      <vt:lpstr>Apresentação do PowerPoint</vt:lpstr>
      <vt:lpstr>MONTHNAME() Mostra o nome do mês.  Relatório – Aniversariantes de Março</vt:lpstr>
      <vt:lpstr>Apresentação do PowerPoint</vt:lpstr>
      <vt:lpstr> YEAR() – Mostra apenas o ano de uma data.   Quantos anos de casa tem os vendedores da empresa.  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Isa</dc:creator>
  <cp:keywords/>
  <dc:description>generated using python-pptx</dc:description>
  <cp:lastModifiedBy>Isabela Santos</cp:lastModifiedBy>
  <cp:revision>7</cp:revision>
  <dcterms:created xsi:type="dcterms:W3CDTF">2013-01-27T09:14:16Z</dcterms:created>
  <dcterms:modified xsi:type="dcterms:W3CDTF">2026-03-12T01:25:33Z</dcterms:modified>
  <cp:category/>
</cp:coreProperties>
</file>